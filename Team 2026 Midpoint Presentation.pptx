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5143500" cy="9144000"/>
  <p:embeddedFontLst>
    <p:embeddedFont>
      <p:font typeface="Play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font" Target="fonts/Play-bold.fntdata"/><Relationship Id="rId12" Type="http://schemas.openxmlformats.org/officeDocument/2006/relationships/slide" Target="slides/slide7.xml"/><Relationship Id="rId23" Type="http://schemas.openxmlformats.org/officeDocument/2006/relationships/font" Target="fonts/Play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1b24bd96b_0_862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d1b24bd96b_0_862:notes"/>
          <p:cNvSpPr/>
          <p:nvPr>
            <p:ph idx="2" type="sldImg"/>
          </p:nvPr>
        </p:nvSpPr>
        <p:spPr>
          <a:xfrm>
            <a:off x="51435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1b24bd96b_0_1076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1b24bd96b_0_1076:notes"/>
          <p:cNvSpPr/>
          <p:nvPr>
            <p:ph idx="2" type="sldImg"/>
          </p:nvPr>
        </p:nvSpPr>
        <p:spPr>
          <a:xfrm>
            <a:off x="51435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1b24bd96b_0_1180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d1b24bd96b_0_1180:notes"/>
          <p:cNvSpPr/>
          <p:nvPr>
            <p:ph idx="2" type="sldImg"/>
          </p:nvPr>
        </p:nvSpPr>
        <p:spPr>
          <a:xfrm>
            <a:off x="51435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1b24bd96b_0_1392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d1b24bd96b_0_1392:notes"/>
          <p:cNvSpPr/>
          <p:nvPr>
            <p:ph idx="2" type="sldImg"/>
          </p:nvPr>
        </p:nvSpPr>
        <p:spPr>
          <a:xfrm>
            <a:off x="51435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1eec7c9f4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d1eec7c9f4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d1eec7c9f4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1b24bd96b_0_14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d1b24bd96b_0_14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d1b24bd96b_0_14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1b24bd96b_0_550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d1b24bd96b_0_550:notes"/>
          <p:cNvSpPr/>
          <p:nvPr>
            <p:ph idx="2" type="sldImg"/>
          </p:nvPr>
        </p:nvSpPr>
        <p:spPr>
          <a:xfrm>
            <a:off x="51435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1b24bd96b_8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d1b24bd96b_8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d1b24bd96b_8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1b24bd96b_8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d1b24bd96b_8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d1b24bd96b_8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1b24bd96b_0_229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g3d1b24bd96b_0_229:notes"/>
          <p:cNvSpPr/>
          <p:nvPr>
            <p:ph idx="2" type="sldImg"/>
          </p:nvPr>
        </p:nvSpPr>
        <p:spPr>
          <a:xfrm>
            <a:off x="51435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-1" y="0"/>
            <a:ext cx="9144000" cy="3429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 txBox="1"/>
          <p:nvPr>
            <p:ph type="ctrTitle"/>
          </p:nvPr>
        </p:nvSpPr>
        <p:spPr>
          <a:xfrm>
            <a:off x="342900" y="3720103"/>
            <a:ext cx="5829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Char char="●"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6457950" y="3720103"/>
            <a:ext cx="2400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sz="1100"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sz="1100"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sz="1100"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sz="1100"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sz="1100"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sz="1100"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sz="1100"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sz="1100"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" name="Google Shape;19;p3"/>
          <p:cNvCxnSpPr/>
          <p:nvPr/>
        </p:nvCxnSpPr>
        <p:spPr>
          <a:xfrm rot="10800000">
            <a:off x="6290132" y="3948080"/>
            <a:ext cx="0" cy="685800"/>
          </a:xfrm>
          <a:prstGeom prst="straightConnector1">
            <a:avLst/>
          </a:prstGeom>
          <a:noFill/>
          <a:ln cap="flat" cmpd="sng" w="1430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-1" y="0"/>
            <a:ext cx="9144000" cy="3429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 txBox="1"/>
          <p:nvPr>
            <p:ph type="ctrTitle"/>
          </p:nvPr>
        </p:nvSpPr>
        <p:spPr>
          <a:xfrm>
            <a:off x="342900" y="3720103"/>
            <a:ext cx="5829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6457950" y="3720103"/>
            <a:ext cx="2400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" name="Google Shape;35;p5"/>
          <p:cNvCxnSpPr/>
          <p:nvPr/>
        </p:nvCxnSpPr>
        <p:spPr>
          <a:xfrm rot="10800000">
            <a:off x="6290132" y="3948080"/>
            <a:ext cx="0" cy="685800"/>
          </a:xfrm>
          <a:prstGeom prst="straightConnector1">
            <a:avLst/>
          </a:prstGeom>
          <a:noFill/>
          <a:ln cap="flat" cmpd="sng" w="1430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🢝"/>
              <a:defRPr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🢝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768096" y="353632"/>
            <a:ext cx="32919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000"/>
              <a:buFont typeface="Twentieth Century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286250" y="617220"/>
            <a:ext cx="4258800" cy="3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Char char="🢝"/>
              <a:defRPr sz="1500"/>
            </a:lvl2pPr>
            <a:lvl3pPr indent="-3048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🢝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🢝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🢝"/>
              <a:defRPr sz="1200"/>
            </a:lvl5pPr>
            <a:lvl6pPr indent="-3048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🢝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🢝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🢝"/>
              <a:defRPr sz="1200"/>
            </a:lvl8pPr>
            <a:lvl9pPr indent="-3048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200"/>
              <a:buChar char="🢝"/>
              <a:defRPr sz="12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768096" y="1693129"/>
            <a:ext cx="3291900" cy="28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53" name="Google Shape;53;p9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0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100"/>
              <a:buFont typeface="Twentieth Century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100"/>
              <a:buFont typeface="Twentieth Century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sz="8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sz="8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sz="8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sz="8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sz="8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sz="8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sz="8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sz="8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sz="8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1D9AA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/>
          <p:nvPr/>
        </p:nvSpPr>
        <p:spPr>
          <a:xfrm>
            <a:off x="-1" y="0"/>
            <a:ext cx="9144000" cy="3429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1"/>
          <p:cNvSpPr txBox="1"/>
          <p:nvPr>
            <p:ph type="title"/>
          </p:nvPr>
        </p:nvSpPr>
        <p:spPr>
          <a:xfrm>
            <a:off x="342900" y="3720103"/>
            <a:ext cx="5829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None/>
              <a:defRPr b="0" sz="38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" type="body"/>
          </p:nvPr>
        </p:nvSpPr>
        <p:spPr>
          <a:xfrm>
            <a:off x="6457950" y="3720103"/>
            <a:ext cx="2400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1" name="Google Shape;71;p11"/>
          <p:cNvCxnSpPr/>
          <p:nvPr/>
        </p:nvCxnSpPr>
        <p:spPr>
          <a:xfrm rot="10800000">
            <a:off x="6290132" y="3948080"/>
            <a:ext cx="0" cy="685800"/>
          </a:xfrm>
          <a:prstGeom prst="straightConnector1">
            <a:avLst/>
          </a:prstGeom>
          <a:noFill/>
          <a:ln cap="flat" cmpd="sng" w="1430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768095" y="1714500"/>
            <a:ext cx="3566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🢝"/>
              <a:defRPr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🢝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4491990" y="1714500"/>
            <a:ext cx="3566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🢝"/>
              <a:defRPr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🢝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>
            <a:off x="768096" y="1634727"/>
            <a:ext cx="35664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102875" spcFirstLastPara="1" rIns="1028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b="0" sz="17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82" name="Google Shape;82;p13"/>
          <p:cNvSpPr txBox="1"/>
          <p:nvPr>
            <p:ph idx="2" type="body"/>
          </p:nvPr>
        </p:nvSpPr>
        <p:spPr>
          <a:xfrm>
            <a:off x="768096" y="2225841"/>
            <a:ext cx="3566400" cy="25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🢝"/>
              <a:defRPr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🢝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3" type="body"/>
          </p:nvPr>
        </p:nvSpPr>
        <p:spPr>
          <a:xfrm>
            <a:off x="4493166" y="1634727"/>
            <a:ext cx="35664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102875" spcFirstLastPara="1" rIns="1028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b="0" sz="17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3"/>
          <p:cNvSpPr txBox="1"/>
          <p:nvPr>
            <p:ph idx="4" type="body"/>
          </p:nvPr>
        </p:nvSpPr>
        <p:spPr>
          <a:xfrm>
            <a:off x="4493166" y="2225841"/>
            <a:ext cx="3566400" cy="25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🢝"/>
              <a:defRPr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🢝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>
  <p:cSld name="Picture with Ca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342900" y="3720104"/>
            <a:ext cx="5829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5"/>
          <p:cNvSpPr/>
          <p:nvPr>
            <p:ph idx="2" type="pic"/>
          </p:nvPr>
        </p:nvSpPr>
        <p:spPr>
          <a:xfrm>
            <a:off x="0" y="-1"/>
            <a:ext cx="9141900" cy="3429000"/>
          </a:xfrm>
          <a:prstGeom prst="rect">
            <a:avLst/>
          </a:prstGeom>
          <a:solidFill>
            <a:srgbClr val="76CEEF"/>
          </a:solidFill>
          <a:ln>
            <a:noFill/>
          </a:ln>
        </p:spPr>
      </p:sp>
      <p:sp>
        <p:nvSpPr>
          <p:cNvPr id="95" name="Google Shape;95;p15"/>
          <p:cNvSpPr txBox="1"/>
          <p:nvPr>
            <p:ph idx="1" type="body"/>
          </p:nvPr>
        </p:nvSpPr>
        <p:spPr>
          <a:xfrm>
            <a:off x="6457950" y="3720104"/>
            <a:ext cx="2400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6" name="Google Shape;96;p15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9" name="Google Shape;99;p15"/>
          <p:cNvCxnSpPr/>
          <p:nvPr/>
        </p:nvCxnSpPr>
        <p:spPr>
          <a:xfrm rot="10800000">
            <a:off x="6290132" y="3948080"/>
            <a:ext cx="0" cy="68580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 rot="5400000">
            <a:off x="2904451" y="-421800"/>
            <a:ext cx="3017400" cy="7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🢝"/>
              <a:defRPr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🢝"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 rot="5400000">
            <a:off x="5500651" y="1614600"/>
            <a:ext cx="40578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4275" spcFirstLastPara="1" rIns="34275" wrap="square" tIns="685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 rot="5400000">
            <a:off x="1557226" y="-242850"/>
            <a:ext cx="4057800" cy="56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🢝"/>
              <a:defRPr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🢝"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2" name="Google Shape;112;p17"/>
          <p:cNvCxnSpPr/>
          <p:nvPr/>
        </p:nvCxnSpPr>
        <p:spPr>
          <a:xfrm rot="10800000">
            <a:off x="7543800" y="44447"/>
            <a:ext cx="0" cy="68580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None/>
              <a:defRPr b="0" i="0" sz="3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36550" lvl="0" marL="457200" marR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Twentieth Century"/>
              <a:buChar char=" "/>
              <a:defRPr b="0" i="0" sz="17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298450" lvl="2" marL="13716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🢝"/>
              <a:defRPr b="0" i="0" sz="1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🢝"/>
              <a:defRPr b="0" i="0" sz="1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298450" lvl="4" marL="22860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🢝"/>
              <a:defRPr b="0" i="0" sz="1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298450" lvl="5" marL="27432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🢝"/>
              <a:defRPr b="0" i="0" sz="1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298450" lvl="6" marL="32004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🢝"/>
              <a:defRPr b="0" i="0" sz="1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298450" lvl="7" marL="36576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🢝"/>
              <a:defRPr b="0" i="0" sz="1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298450" lvl="8" marL="4114800" marR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100"/>
              <a:buFont typeface="Noto Sans Symbols"/>
              <a:buChar char="🢝"/>
              <a:defRPr b="0" i="0" sz="1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Twentieth Century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4"/>
          <p:cNvCxnSpPr/>
          <p:nvPr/>
        </p:nvCxnSpPr>
        <p:spPr>
          <a:xfrm rot="10800000">
            <a:off x="571500" y="619743"/>
            <a:ext cx="0" cy="68580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/>
          <p:nvPr/>
        </p:nvSpPr>
        <p:spPr>
          <a:xfrm>
            <a:off x="2286" y="0"/>
            <a:ext cx="9141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683C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2111947" y="111697"/>
            <a:ext cx="4920000" cy="4920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 txBox="1"/>
          <p:nvPr>
            <p:ph idx="1" type="subTitle"/>
          </p:nvPr>
        </p:nvSpPr>
        <p:spPr>
          <a:xfrm>
            <a:off x="2486273" y="3057602"/>
            <a:ext cx="4171500" cy="11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Presented by Team 2026: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 Atif Tausif, Tausif Tusar, Mahdi Mahin, Raian Pial, Sushanta Sapkota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Date: 3/25/26</a:t>
            </a:r>
            <a:endParaRPr/>
          </a:p>
        </p:txBody>
      </p:sp>
      <p:sp>
        <p:nvSpPr>
          <p:cNvPr id="122" name="Google Shape;122;p18"/>
          <p:cNvSpPr txBox="1"/>
          <p:nvPr>
            <p:ph type="ctrTitle"/>
          </p:nvPr>
        </p:nvSpPr>
        <p:spPr>
          <a:xfrm>
            <a:off x="2486273" y="1035565"/>
            <a:ext cx="4171500" cy="18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</a:pPr>
            <a:r>
              <a:rPr lang="en-US"/>
              <a:t>DATA SCIENCE Mid Point Pitch</a:t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 flipH="1" rot="-1577572">
            <a:off x="1870750" y="4606"/>
            <a:ext cx="5111977" cy="5112246"/>
          </a:xfrm>
          <a:prstGeom prst="arc">
            <a:avLst>
              <a:gd fmla="val 16200000" name="adj1"/>
              <a:gd fmla="val 20093138" name="adj2"/>
            </a:avLst>
          </a:prstGeom>
          <a:noFill/>
          <a:ln cap="rnd" cmpd="sng" w="95250">
            <a:solidFill>
              <a:schemeClr val="accent4">
                <a:alpha val="94900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6150746" y="3983230"/>
            <a:ext cx="529500" cy="515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-1" y="0"/>
            <a:ext cx="9144000" cy="3429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31" name="Google Shape;131;p19"/>
          <p:cNvCxnSpPr/>
          <p:nvPr/>
        </p:nvCxnSpPr>
        <p:spPr>
          <a:xfrm rot="10800000">
            <a:off x="6290132" y="3948080"/>
            <a:ext cx="0" cy="685800"/>
          </a:xfrm>
          <a:prstGeom prst="straightConnector1">
            <a:avLst/>
          </a:prstGeom>
          <a:noFill/>
          <a:ln cap="flat" cmpd="sng" w="1430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19"/>
          <p:cNvSpPr/>
          <p:nvPr/>
        </p:nvSpPr>
        <p:spPr>
          <a:xfrm>
            <a:off x="0" y="0"/>
            <a:ext cx="9141600" cy="514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379098" y="363474"/>
            <a:ext cx="5590200" cy="441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4" name="Google Shape;134;p19"/>
          <p:cNvSpPr txBox="1"/>
          <p:nvPr>
            <p:ph type="title"/>
          </p:nvPr>
        </p:nvSpPr>
        <p:spPr>
          <a:xfrm>
            <a:off x="742572" y="733425"/>
            <a:ext cx="4904700" cy="24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100"/>
              <a:buFont typeface="Twentieth Century"/>
              <a:buNone/>
            </a:pPr>
            <a:r>
              <a:rPr lang="en-US" sz="4100"/>
              <a:t>AGENDA</a:t>
            </a:r>
            <a:endParaRPr sz="4100"/>
          </a:p>
        </p:txBody>
      </p:sp>
      <p:cxnSp>
        <p:nvCxnSpPr>
          <p:cNvPr id="135" name="Google Shape;135;p19"/>
          <p:cNvCxnSpPr/>
          <p:nvPr/>
        </p:nvCxnSpPr>
        <p:spPr>
          <a:xfrm>
            <a:off x="1619010" y="3357493"/>
            <a:ext cx="4028100" cy="0"/>
          </a:xfrm>
          <a:prstGeom prst="straightConnector1">
            <a:avLst/>
          </a:prstGeom>
          <a:noFill/>
          <a:ln cap="flat" cmpd="sng" w="1430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19"/>
          <p:cNvSpPr/>
          <p:nvPr/>
        </p:nvSpPr>
        <p:spPr>
          <a:xfrm>
            <a:off x="6089902" y="363474"/>
            <a:ext cx="2688000" cy="441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Introduction</a:t>
            </a:r>
            <a:br>
              <a:rPr lang="en-US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br>
              <a:rPr lang="en-US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en-US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Methodology</a:t>
            </a:r>
            <a:endParaRPr sz="14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</a:t>
            </a:r>
            <a:endParaRPr sz="14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Business Intelligence</a:t>
            </a:r>
            <a:endParaRPr sz="14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Application Stack</a:t>
            </a:r>
            <a:endParaRPr sz="14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-1" y="0"/>
            <a:ext cx="9144000" cy="3429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43" name="Google Shape;143;p20"/>
          <p:cNvCxnSpPr/>
          <p:nvPr/>
        </p:nvCxnSpPr>
        <p:spPr>
          <a:xfrm rot="10800000">
            <a:off x="6290132" y="3948080"/>
            <a:ext cx="0" cy="685800"/>
          </a:xfrm>
          <a:prstGeom prst="straightConnector1">
            <a:avLst/>
          </a:prstGeom>
          <a:noFill/>
          <a:ln cap="flat" cmpd="sng" w="1430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350196" y="363474"/>
            <a:ext cx="8433000" cy="441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6" name="Google Shape;146;p20"/>
          <p:cNvSpPr txBox="1"/>
          <p:nvPr>
            <p:ph type="title"/>
          </p:nvPr>
        </p:nvSpPr>
        <p:spPr>
          <a:xfrm>
            <a:off x="3274017" y="604774"/>
            <a:ext cx="5265600" cy="39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 sz="5000"/>
              <a:t>INTRODUCTION AND PROBLEM STATEMENT</a:t>
            </a:r>
            <a:endParaRPr/>
          </a:p>
        </p:txBody>
      </p:sp>
      <p:cxnSp>
        <p:nvCxnSpPr>
          <p:cNvPr id="147" name="Google Shape;147;p20"/>
          <p:cNvCxnSpPr/>
          <p:nvPr/>
        </p:nvCxnSpPr>
        <p:spPr>
          <a:xfrm>
            <a:off x="3044951" y="1200150"/>
            <a:ext cx="0" cy="274320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Google Shape;153;p21"/>
          <p:cNvCxnSpPr/>
          <p:nvPr/>
        </p:nvCxnSpPr>
        <p:spPr>
          <a:xfrm>
            <a:off x="457200" y="548640"/>
            <a:ext cx="0" cy="731520"/>
          </a:xfrm>
          <a:prstGeom prst="straightConnector1">
            <a:avLst/>
          </a:prstGeom>
          <a:noFill/>
          <a:ln cap="flat" cmpd="sng" w="254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21"/>
          <p:cNvSpPr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8E5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88E5"/>
                </a:solidFill>
                <a:latin typeface="Calibri"/>
                <a:ea typeface="Calibri"/>
                <a:cs typeface="Calibri"/>
                <a:sym typeface="Calibri"/>
              </a:rPr>
              <a:t>Introduction and Problem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640075" y="1762700"/>
            <a:ext cx="36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 &amp; Core Question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5029200" y="1762700"/>
            <a:ext cx="384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5029200" y="2097725"/>
            <a:ext cx="38406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Build a predictive model that uses real-time weather data (rain, temperature) to forecast NYC traffic delays. Deliver live Tableau dashboards that city planners can use to anticipate congestion and adjust signal timing or transit schedules.</a:t>
            </a:r>
            <a:endParaRPr b="0" i="0" sz="115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t/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Questions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-"/>
            </a:pPr>
            <a:r>
              <a:rPr lang="en-US" sz="11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“Can weather-based predictions help reduce congestion during rush hour?”</a:t>
            </a:r>
            <a:endParaRPr sz="11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-"/>
            </a:pPr>
            <a:r>
              <a:rPr lang="en-US" sz="11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“How much does rain and temperature affect traffic delays in NYC?”</a:t>
            </a:r>
            <a:endParaRPr sz="11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-"/>
            </a:pPr>
            <a:r>
              <a:rPr lang="en-US" sz="11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“At what weather conditions do NYC traffic delays sharply increase, and can we identify a clear tipping point?”</a:t>
            </a:r>
            <a:endParaRPr sz="11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1563202" y="886700"/>
            <a:ext cx="945900" cy="87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/>
          <p:nvPr/>
        </p:nvSpPr>
        <p:spPr>
          <a:xfrm>
            <a:off x="6618202" y="886700"/>
            <a:ext cx="1133700" cy="9516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1"/>
          <p:cNvSpPr txBox="1"/>
          <p:nvPr/>
        </p:nvSpPr>
        <p:spPr>
          <a:xfrm>
            <a:off x="640075" y="2219900"/>
            <a:ext cx="361440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Calibri"/>
              <a:buNone/>
            </a:pP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Rain and temperature swings cause a lot of changes across NYC transportation.  Longer commute times, more accidents, and shifts in bike share usage. City planners and transit agencies lack simple, data-backed models to predict how weather conditions affect congestion.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Calibri"/>
              <a:buNone/>
            </a:pP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Core question: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Calibri"/>
              <a:buNone/>
            </a:pP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How do weather conditions impact traffic delays and transportation patterns in NYC?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Stakeholders: City planners, DOT, transit agencies, commuters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-1" y="0"/>
            <a:ext cx="9144000" cy="3429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68" name="Google Shape;168;p22"/>
          <p:cNvCxnSpPr/>
          <p:nvPr/>
        </p:nvCxnSpPr>
        <p:spPr>
          <a:xfrm rot="10800000">
            <a:off x="6290132" y="3948080"/>
            <a:ext cx="0" cy="685800"/>
          </a:xfrm>
          <a:prstGeom prst="straightConnector1">
            <a:avLst/>
          </a:prstGeom>
          <a:noFill/>
          <a:ln cap="flat" cmpd="sng" w="1430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22"/>
          <p:cNvSpPr/>
          <p:nvPr/>
        </p:nvSpPr>
        <p:spPr>
          <a:xfrm>
            <a:off x="0" y="0"/>
            <a:ext cx="9141600" cy="514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379098" y="363474"/>
            <a:ext cx="5590200" cy="441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1" name="Google Shape;171;p22"/>
          <p:cNvSpPr txBox="1"/>
          <p:nvPr>
            <p:ph type="title"/>
          </p:nvPr>
        </p:nvSpPr>
        <p:spPr>
          <a:xfrm>
            <a:off x="742572" y="733425"/>
            <a:ext cx="4904700" cy="24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100"/>
              <a:buFont typeface="Twentieth Century"/>
              <a:buNone/>
            </a:pPr>
            <a:r>
              <a:rPr lang="en-US" sz="4100"/>
              <a:t>METHOD AND PROCESS</a:t>
            </a:r>
            <a:endParaRPr/>
          </a:p>
        </p:txBody>
      </p:sp>
      <p:cxnSp>
        <p:nvCxnSpPr>
          <p:cNvPr id="172" name="Google Shape;172;p22"/>
          <p:cNvCxnSpPr/>
          <p:nvPr/>
        </p:nvCxnSpPr>
        <p:spPr>
          <a:xfrm>
            <a:off x="1619010" y="3357493"/>
            <a:ext cx="4028100" cy="0"/>
          </a:xfrm>
          <a:prstGeom prst="straightConnector1">
            <a:avLst/>
          </a:prstGeom>
          <a:noFill/>
          <a:ln cap="flat" cmpd="sng" w="1430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22"/>
          <p:cNvSpPr/>
          <p:nvPr/>
        </p:nvSpPr>
        <p:spPr>
          <a:xfrm>
            <a:off x="6089902" y="363474"/>
            <a:ext cx="2688000" cy="441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/>
          <p:nvPr/>
        </p:nvSpPr>
        <p:spPr>
          <a:xfrm>
            <a:off x="0" y="0"/>
            <a:ext cx="2875417" cy="51435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683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wentieth Century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274320" y="1371600"/>
            <a:ext cx="25603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(FUNCTIONAL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REQUIREMENT 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APPROACH)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3376800" y="597600"/>
            <a:ext cx="5047200" cy="42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How are we going to get the data, where are we storing it, how are we cleaning it, and how will stakeholders use and see it: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Pull historical weather from Open Meteo API (rain, temp, humidity)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 Collect NYC traffic delay data from NYC OpenData portal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 Store in MySQL database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4. Clean and merge datasets by date using Python (Pandas)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5. Build regression models (rain → delay time)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6. A/B test: weather-only model vs weather + prior traffic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7. Visualize predictions in Tableau dashboards for city planners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7" name="Google Shape;187;p24"/>
          <p:cNvCxnSpPr/>
          <p:nvPr/>
        </p:nvCxnSpPr>
        <p:spPr>
          <a:xfrm>
            <a:off x="457200" y="548640"/>
            <a:ext cx="0" cy="731400"/>
          </a:xfrm>
          <a:prstGeom prst="straightConnector1">
            <a:avLst/>
          </a:prstGeom>
          <a:noFill/>
          <a:ln cap="flat" cmpd="sng" w="254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24"/>
          <p:cNvSpPr/>
          <p:nvPr/>
        </p:nvSpPr>
        <p:spPr>
          <a:xfrm>
            <a:off x="640080" y="457200"/>
            <a:ext cx="6400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640080" y="1463040"/>
            <a:ext cx="6400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640080" y="2011680"/>
            <a:ext cx="6858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Data collection methodology: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Data collected using </a:t>
            </a: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Open Meteo API</a:t>
            </a: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and NYC OpenData traffic delay</a:t>
            </a: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API</a:t>
            </a: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640080" y="2697480"/>
            <a:ext cx="6858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Perform data wrangling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Merge weather + traffic by date</a:t>
            </a: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Handle missing records, remove holidays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4"/>
          <p:cNvSpPr/>
          <p:nvPr/>
        </p:nvSpPr>
        <p:spPr>
          <a:xfrm>
            <a:off x="640080" y="3383280"/>
            <a:ext cx="685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Perform exploratory data analysis (EDA) </a:t>
            </a: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4"/>
          <p:cNvSpPr/>
          <p:nvPr/>
        </p:nvSpPr>
        <p:spPr>
          <a:xfrm>
            <a:off x="640080" y="3794760"/>
            <a:ext cx="685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Perform interactive visual analytics using Tableau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640080" y="4206240"/>
            <a:ext cx="6858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Perform predictive analysis using regression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Simple regression (rain → delay) and multivariate (rain + temp + day). Evaluate with R² and RMSE.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850392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4"/>
          <p:cNvSpPr/>
          <p:nvPr/>
        </p:nvSpPr>
        <p:spPr>
          <a:xfrm>
            <a:off x="7955280" y="2743200"/>
            <a:ext cx="1188600" cy="2400300"/>
          </a:xfrm>
          <a:prstGeom prst="rect">
            <a:avLst/>
          </a:prstGeom>
          <a:solidFill>
            <a:srgbClr val="6D9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4"/>
          <p:cNvSpPr/>
          <p:nvPr/>
        </p:nvSpPr>
        <p:spPr>
          <a:xfrm>
            <a:off x="7955280" y="0"/>
            <a:ext cx="1188600" cy="25602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E3EA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Google Shape;203;p25"/>
          <p:cNvCxnSpPr/>
          <p:nvPr/>
        </p:nvCxnSpPr>
        <p:spPr>
          <a:xfrm>
            <a:off x="3840480" y="1828800"/>
            <a:ext cx="0" cy="1371600"/>
          </a:xfrm>
          <a:prstGeom prst="straightConnector1">
            <a:avLst/>
          </a:prstGeom>
          <a:noFill/>
          <a:ln cap="flat" cmpd="sng" w="1905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25"/>
          <p:cNvSpPr/>
          <p:nvPr/>
        </p:nvSpPr>
        <p:spPr>
          <a:xfrm>
            <a:off x="4114800" y="1828800"/>
            <a:ext cx="4572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Google Shape;210;p26"/>
          <p:cNvCxnSpPr/>
          <p:nvPr/>
        </p:nvCxnSpPr>
        <p:spPr>
          <a:xfrm>
            <a:off x="3474720" y="457200"/>
            <a:ext cx="0" cy="4114800"/>
          </a:xfrm>
          <a:prstGeom prst="straightConnector1">
            <a:avLst/>
          </a:prstGeom>
          <a:noFill/>
          <a:ln cap="flat" cmpd="sng" w="1905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26"/>
          <p:cNvSpPr/>
          <p:nvPr/>
        </p:nvSpPr>
        <p:spPr>
          <a:xfrm>
            <a:off x="457200" y="1828800"/>
            <a:ext cx="2926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3840480" y="4572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data was collected using various methods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3657600" y="1097280"/>
            <a:ext cx="5029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Data collection was done using a GET request to the </a:t>
            </a: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Open Meteo</a:t>
            </a: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API for daily rain, temperature, and humidity data for NYC.</a:t>
            </a:r>
            <a:endParaRPr b="0" i="0" sz="125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We also </a:t>
            </a: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extracted </a:t>
            </a: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NYC traffic speed/delay datasets from the NYC OpenData portal</a:t>
            </a:r>
            <a:endParaRPr b="0" i="0" sz="125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We then cleaned the data, checked for</a:t>
            </a: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holidays and events</a:t>
            </a: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and handled any missing values for a</a:t>
            </a: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ny columns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objective was to extract weather and traffic data, normalize it for comparison, and prepare it for the MySQL database and predictive modeling.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6838" y="270263"/>
            <a:ext cx="5048125" cy="287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038" y="270263"/>
            <a:ext cx="3685775" cy="460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6850" y="3329776"/>
            <a:ext cx="5048124" cy="15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E3E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8" name="Google Shape;228;p28"/>
          <p:cNvCxnSpPr/>
          <p:nvPr/>
        </p:nvCxnSpPr>
        <p:spPr>
          <a:xfrm>
            <a:off x="3840480" y="1371600"/>
            <a:ext cx="0" cy="2286000"/>
          </a:xfrm>
          <a:prstGeom prst="straightConnector1">
            <a:avLst/>
          </a:prstGeom>
          <a:noFill/>
          <a:ln cap="flat" cmpd="sng" w="1905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28"/>
          <p:cNvSpPr/>
          <p:nvPr/>
        </p:nvSpPr>
        <p:spPr>
          <a:xfrm>
            <a:off x="4114800" y="1371600"/>
            <a:ext cx="4572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BUSINESS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INTELLIGENCE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5" name="Google Shape;235;p29"/>
          <p:cNvCxnSpPr/>
          <p:nvPr/>
        </p:nvCxnSpPr>
        <p:spPr>
          <a:xfrm>
            <a:off x="457200" y="548640"/>
            <a:ext cx="0" cy="548640"/>
          </a:xfrm>
          <a:prstGeom prst="straightConnector1">
            <a:avLst/>
          </a:prstGeom>
          <a:noFill/>
          <a:ln cap="flat" cmpd="sng" w="254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29"/>
          <p:cNvSpPr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Business Intelligence Dashboards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9"/>
          <p:cNvSpPr/>
          <p:nvPr/>
        </p:nvSpPr>
        <p:spPr>
          <a:xfrm>
            <a:off x="457325" y="1428755"/>
            <a:ext cx="2560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Traffic Predictions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Input today’s weather forecast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Output predicted delay by borough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Map view of congestion hotspots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9"/>
          <p:cNvSpPr/>
          <p:nvPr/>
        </p:nvSpPr>
        <p:spPr>
          <a:xfrm>
            <a:off x="3291890" y="1428755"/>
            <a:ext cx="2560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City Weather Comparison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Compare rain vs delay across boroughs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Historical trends by season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9"/>
          <p:cNvSpPr/>
          <p:nvPr/>
        </p:nvSpPr>
        <p:spPr>
          <a:xfrm>
            <a:off x="6126480" y="1428755"/>
            <a:ext cx="2560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A/B Model Results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Model A vs Model B accuracy charts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R² and RMSE comparison tiles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Recommendation for best-fit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99875"/>
            <a:ext cx="5316285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0"/>
          <p:cNvPicPr preferRelativeResize="0"/>
          <p:nvPr/>
        </p:nvPicPr>
        <p:blipFill rotWithShape="1">
          <a:blip r:embed="rId4">
            <a:alphaModFix/>
          </a:blip>
          <a:srcRect b="0" l="0" r="2477" t="0"/>
          <a:stretch/>
        </p:blipFill>
        <p:spPr>
          <a:xfrm>
            <a:off x="3223325" y="345050"/>
            <a:ext cx="13933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8625" y="446374"/>
            <a:ext cx="4358000" cy="407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3" name="Google Shape;253;p31"/>
          <p:cNvSpPr/>
          <p:nvPr/>
        </p:nvSpPr>
        <p:spPr>
          <a:xfrm>
            <a:off x="-1" y="0"/>
            <a:ext cx="9144000" cy="3429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54" name="Google Shape;254;p31"/>
          <p:cNvCxnSpPr/>
          <p:nvPr/>
        </p:nvCxnSpPr>
        <p:spPr>
          <a:xfrm rot="10800000">
            <a:off x="6290132" y="3948080"/>
            <a:ext cx="0" cy="685800"/>
          </a:xfrm>
          <a:prstGeom prst="straightConnector1">
            <a:avLst/>
          </a:prstGeom>
          <a:noFill/>
          <a:ln cap="flat" cmpd="sng" w="1430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31"/>
          <p:cNvSpPr/>
          <p:nvPr/>
        </p:nvSpPr>
        <p:spPr>
          <a:xfrm>
            <a:off x="0" y="0"/>
            <a:ext cx="9141600" cy="514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6" name="Google Shape;256;p31"/>
          <p:cNvSpPr/>
          <p:nvPr/>
        </p:nvSpPr>
        <p:spPr>
          <a:xfrm>
            <a:off x="379098" y="363474"/>
            <a:ext cx="5590200" cy="441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7" name="Google Shape;257;p31"/>
          <p:cNvSpPr txBox="1"/>
          <p:nvPr>
            <p:ph type="title"/>
          </p:nvPr>
        </p:nvSpPr>
        <p:spPr>
          <a:xfrm>
            <a:off x="742572" y="733425"/>
            <a:ext cx="4904700" cy="24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100"/>
              <a:buFont typeface="Twentieth Century"/>
              <a:buNone/>
            </a:pPr>
            <a:r>
              <a:rPr lang="en-US" sz="4100"/>
              <a:t>APPLICATION STACK</a:t>
            </a:r>
            <a:endParaRPr/>
          </a:p>
        </p:txBody>
      </p:sp>
      <p:cxnSp>
        <p:nvCxnSpPr>
          <p:cNvPr id="258" name="Google Shape;258;p31"/>
          <p:cNvCxnSpPr/>
          <p:nvPr/>
        </p:nvCxnSpPr>
        <p:spPr>
          <a:xfrm>
            <a:off x="1619010" y="3357493"/>
            <a:ext cx="4028100" cy="0"/>
          </a:xfrm>
          <a:prstGeom prst="straightConnector1">
            <a:avLst/>
          </a:prstGeom>
          <a:noFill/>
          <a:ln cap="flat" cmpd="sng" w="1430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31"/>
          <p:cNvSpPr/>
          <p:nvPr/>
        </p:nvSpPr>
        <p:spPr>
          <a:xfrm>
            <a:off x="6089902" y="363474"/>
            <a:ext cx="2688000" cy="441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/>
          <p:nvPr/>
        </p:nvSpPr>
        <p:spPr>
          <a:xfrm>
            <a:off x="0" y="0"/>
            <a:ext cx="1510200" cy="5143500"/>
          </a:xfrm>
          <a:prstGeom prst="rect">
            <a:avLst/>
          </a:prstGeom>
          <a:solidFill>
            <a:srgbClr val="668F9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wentieth Century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2"/>
          <p:cNvSpPr/>
          <p:nvPr/>
        </p:nvSpPr>
        <p:spPr>
          <a:xfrm>
            <a:off x="480059" y="1555772"/>
            <a:ext cx="2064300" cy="2031900"/>
          </a:xfrm>
          <a:prstGeom prst="ellipse">
            <a:avLst/>
          </a:prstGeom>
          <a:solidFill>
            <a:srgbClr val="262626"/>
          </a:solidFill>
          <a:ln cap="flat" cmpd="thinThick" w="13097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THE STACK</a:t>
            </a:r>
            <a:endParaRPr sz="3750">
              <a:solidFill>
                <a:srgbClr val="0C0C0C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7" name="Google Shape;267;p32"/>
          <p:cNvSpPr txBox="1"/>
          <p:nvPr/>
        </p:nvSpPr>
        <p:spPr>
          <a:xfrm>
            <a:off x="3052800" y="143975"/>
            <a:ext cx="5119200" cy="48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API:</a:t>
            </a:r>
            <a:endParaRPr b="1"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9230"/>
              <a:buFont typeface="Twentieth Century"/>
              <a:buChar char="-"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OpenMeteo API, NYC Open Data</a:t>
            </a:r>
            <a:endParaRPr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Language:</a:t>
            </a:r>
            <a:endParaRPr b="1"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9230"/>
              <a:buFont typeface="Twentieth Century"/>
              <a:buChar char="-"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Libraries:</a:t>
            </a:r>
            <a:endParaRPr b="1"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9230"/>
              <a:buFont typeface="Twentieth Century"/>
              <a:buChar char="-"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9230"/>
              <a:buFont typeface="Twentieth Century"/>
              <a:buChar char="-"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Requests</a:t>
            </a:r>
            <a:endParaRPr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9230"/>
              <a:buFont typeface="Twentieth Century"/>
              <a:buChar char="-"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Seaborn</a:t>
            </a:r>
            <a:endParaRPr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9230"/>
              <a:buFont typeface="Twentieth Century"/>
              <a:buChar char="-"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9230"/>
              <a:buFont typeface="Twentieth Century"/>
              <a:buChar char="-"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endParaRPr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9230"/>
              <a:buFont typeface="Twentieth Century"/>
              <a:buChar char="-"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Visuals:</a:t>
            </a:r>
            <a:endParaRPr b="1"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9230"/>
              <a:buFont typeface="Twentieth Century"/>
              <a:buChar char="-"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Tableau</a:t>
            </a:r>
            <a:endParaRPr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Database:</a:t>
            </a:r>
            <a:endParaRPr b="1"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69230"/>
              <a:buFont typeface="Twentieth Century"/>
              <a:buChar char="-"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Forecasting:</a:t>
            </a:r>
            <a:endParaRPr b="1"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9230"/>
              <a:buFont typeface="Twentieth Century"/>
              <a:buChar char="-"/>
            </a:pPr>
            <a:r>
              <a:rPr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Tableau Native + sklearn (regression)</a:t>
            </a:r>
            <a:endParaRPr sz="1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/>
          <p:nvPr/>
        </p:nvSpPr>
        <p:spPr>
          <a:xfrm>
            <a:off x="0" y="0"/>
            <a:ext cx="1510200" cy="5143500"/>
          </a:xfrm>
          <a:prstGeom prst="rect">
            <a:avLst/>
          </a:prstGeom>
          <a:solidFill>
            <a:srgbClr val="4CA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wentieth Century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3"/>
          <p:cNvSpPr/>
          <p:nvPr/>
        </p:nvSpPr>
        <p:spPr>
          <a:xfrm>
            <a:off x="480059" y="1555772"/>
            <a:ext cx="2064300" cy="2031900"/>
          </a:xfrm>
          <a:prstGeom prst="ellipse">
            <a:avLst/>
          </a:prstGeom>
          <a:solidFill>
            <a:srgbClr val="262626"/>
          </a:solidFill>
          <a:ln cap="flat" cmpd="thinThick" w="13097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MEMBER ROLES</a:t>
            </a:r>
            <a:endParaRPr sz="3750">
              <a:solidFill>
                <a:srgbClr val="0C0C0C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5" name="Google Shape;275;p33"/>
          <p:cNvSpPr txBox="1"/>
          <p:nvPr/>
        </p:nvSpPr>
        <p:spPr>
          <a:xfrm>
            <a:off x="3901150" y="449100"/>
            <a:ext cx="4456500" cy="42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Atif Tausif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Data Engineering + Lead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Tausif Tusar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Data Analyst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Mahdi Mahin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ML Engineer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Raian Pial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BI Dashboards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Sushanta Sapkota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Data Analyst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Subject to change</a:t>
            </a:r>
            <a:endParaRPr sz="9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"/>
          <p:cNvSpPr/>
          <p:nvPr/>
        </p:nvSpPr>
        <p:spPr>
          <a:xfrm>
            <a:off x="2286" y="0"/>
            <a:ext cx="9141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4"/>
          <p:cNvSpPr/>
          <p:nvPr/>
        </p:nvSpPr>
        <p:spPr>
          <a:xfrm>
            <a:off x="2111947" y="111697"/>
            <a:ext cx="4920000" cy="4920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4"/>
          <p:cNvSpPr txBox="1"/>
          <p:nvPr>
            <p:ph type="title"/>
          </p:nvPr>
        </p:nvSpPr>
        <p:spPr>
          <a:xfrm>
            <a:off x="2486273" y="1035565"/>
            <a:ext cx="4171500" cy="18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</a:pPr>
            <a:r>
              <a:rPr lang="en-US" sz="45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Q&amp;A</a:t>
            </a:r>
            <a:endParaRPr/>
          </a:p>
        </p:txBody>
      </p:sp>
      <p:sp>
        <p:nvSpPr>
          <p:cNvPr id="285" name="Google Shape;285;p34"/>
          <p:cNvSpPr/>
          <p:nvPr/>
        </p:nvSpPr>
        <p:spPr>
          <a:xfrm flipH="1" rot="-1577572">
            <a:off x="1870750" y="4606"/>
            <a:ext cx="5111977" cy="5112246"/>
          </a:xfrm>
          <a:prstGeom prst="arc">
            <a:avLst>
              <a:gd fmla="val 16200000" name="adj1"/>
              <a:gd fmla="val 20093138" name="adj2"/>
            </a:avLst>
          </a:prstGeom>
          <a:noFill/>
          <a:ln cap="rnd" cmpd="sng" w="95250">
            <a:solidFill>
              <a:schemeClr val="accent4">
                <a:alpha val="94900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4"/>
          <p:cNvSpPr/>
          <p:nvPr/>
        </p:nvSpPr>
        <p:spPr>
          <a:xfrm>
            <a:off x="6150746" y="3983230"/>
            <a:ext cx="529500" cy="515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